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60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Kubernetes Observability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Gamified Governance Platform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816352"/>
            <a:ext cx="7772400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017520"/>
            <a:ext cx="2286000" cy="868680"/>
          </a:xfrm>
          <a:prstGeom prst="rect">
            <a:avLst>
              <a:gd name="adj" fmla="val 8421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Streamer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3017520"/>
            <a:ext cx="2286000" cy="868680"/>
          </a:xfrm>
          <a:prstGeom prst="rect">
            <a:avLst>
              <a:gd name="adj" fmla="val 8421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&amp; Database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3017520"/>
            <a:ext cx="2286000" cy="868680"/>
          </a:xfrm>
          <a:prstGeom prst="rect">
            <a:avLst>
              <a:gd name="adj" fmla="val 8421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Visualization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83880" y="3017520"/>
            <a:ext cx="2286000" cy="868680"/>
          </a:xfrm>
          <a:prstGeom prst="rect">
            <a:avLst>
              <a:gd name="adj" fmla="val 8421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Ishika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8388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QA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  · 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teams running Kubernetes face compounding operational complexity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00" cy="1481328"/>
          </a:xfrm>
          <a:prstGeom prst="rect">
            <a:avLst>
              <a:gd name="adj" fmla="val 4938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81912"/>
            <a:ext cx="402336" cy="402336"/>
          </a:xfrm>
          <a:prstGeom prst="rect">
            <a:avLst>
              <a:gd name="adj" fmla="val 18182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581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Terminal-Heavy Workflows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4572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cluster inspection requires memorising kubectl commands — no visual overview of running workloads.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486400" cy="1481328"/>
          </a:xfrm>
          <a:prstGeom prst="rect">
            <a:avLst>
              <a:gd name="adj" fmla="val 4938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1581912"/>
            <a:ext cx="402336" cy="402336"/>
          </a:xfrm>
          <a:prstGeom prst="rect">
            <a:avLst>
              <a:gd name="adj" fmla="val 18182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1581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Visibility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892808"/>
            <a:ext cx="4572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status, logs, events, and metrics exist in separate tools with no single coherent view.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5486400" cy="1481328"/>
          </a:xfrm>
          <a:prstGeom prst="rect">
            <a:avLst>
              <a:gd name="adj" fmla="val 4938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273552"/>
            <a:ext cx="402336" cy="402336"/>
          </a:xfrm>
          <a:prstGeom prst="rect">
            <a:avLst>
              <a:gd name="adj" fmla="val 18182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273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Issue 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584448"/>
            <a:ext cx="4572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surface only after a service is already down; proactive health awareness is missing.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108960"/>
            <a:ext cx="5486400" cy="1481328"/>
          </a:xfrm>
          <a:prstGeom prst="rect">
            <a:avLst>
              <a:gd name="adj" fmla="val 4938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3273552"/>
            <a:ext cx="402336" cy="402336"/>
          </a:xfrm>
          <a:prstGeom prst="rect">
            <a:avLst>
              <a:gd name="adj" fmla="val 18182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32735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Monitoring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3584448"/>
            <a:ext cx="4572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juggle Grafana dashboards, kubectl, and incident channels instead of one integrated surface.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visual Kubernetes observability and governance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11274552" cy="914400"/>
          </a:xfrm>
          <a:prstGeom prst="rect">
            <a:avLst>
              <a:gd name="adj" fmla="val 8000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109087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 connects engineering teams to their Kubernetes clusters and translates live infrastructure state into an interactive visual canvas — eliminating terminal-only workflows.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2606040" cy="1719072"/>
          </a:xfrm>
          <a:prstGeom prst="rect">
            <a:avLst>
              <a:gd name="adj" fmla="val 4255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26060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Topology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898648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canvas renders pods, nodes, services in a live interactive graph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73552" y="2423160"/>
            <a:ext cx="2606040" cy="1719072"/>
          </a:xfrm>
          <a:prstGeom prst="rect">
            <a:avLst>
              <a:gd name="adj" fmla="val 4255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2423160"/>
            <a:ext cx="2606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542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2898648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client-go Informers push K8s events via WebSocket — sub-second updates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9904" y="2423160"/>
            <a:ext cx="2606040" cy="1719072"/>
          </a:xfrm>
          <a:prstGeom prst="rect">
            <a:avLst>
              <a:gd name="adj" fmla="val 4255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242316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2542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Incidents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27064" y="2898648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threshold-based alert rules and a persistent incident log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06256" y="2423160"/>
            <a:ext cx="2606040" cy="1719072"/>
          </a:xfrm>
          <a:prstGeom prst="rect">
            <a:avLst>
              <a:gd name="adj" fmla="val 4255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06256" y="2423160"/>
            <a:ext cx="26060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3416" y="25420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43416" y="2898648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health scores (0–100) and leaderboards promote operational excellence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engineering goals delivered this semester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9888"/>
            <a:ext cx="5486400" cy="1280160"/>
          </a:xfrm>
          <a:prstGeom prst="rect">
            <a:avLst>
              <a:gd name="adj" fmla="val 5714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54480"/>
            <a:ext cx="411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1499616"/>
            <a:ext cx="46634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one or more Kubernetes clusters via kubeconfig upload and stream live resource state to the web dashboard.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89888"/>
            <a:ext cx="5486400" cy="1280160"/>
          </a:xfrm>
          <a:prstGeom prst="rect">
            <a:avLst>
              <a:gd name="adj" fmla="val 5714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554480"/>
            <a:ext cx="411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85432" y="1499616"/>
            <a:ext cx="46634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interactive visual topology canvas showing nodes, workloads, pods, services, and their relationships.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1280160"/>
          </a:xfrm>
          <a:prstGeom prst="rect">
            <a:avLst>
              <a:gd name="adj" fmla="val 5714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017520"/>
            <a:ext cx="411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" y="2962656"/>
            <a:ext cx="46634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resource inspection — pod logs, resource usage, restart counts — without any local CLI tooling.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852928"/>
            <a:ext cx="5486400" cy="1280160"/>
          </a:xfrm>
          <a:prstGeom prst="rect">
            <a:avLst>
              <a:gd name="adj" fmla="val 5714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017520"/>
            <a:ext cx="411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85432" y="2962656"/>
            <a:ext cx="46634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teams to define custom metric-based alert rules (CPU, memory, pod crash) with configurable thresholds and severities.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5486400" cy="1280160"/>
          </a:xfrm>
          <a:prstGeom prst="rect">
            <a:avLst>
              <a:gd name="adj" fmla="val 5714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480560"/>
            <a:ext cx="411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" y="4425696"/>
            <a:ext cx="46634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incident events with lifecycle management (Triggered → Resolved) and a filterable history log.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315968"/>
            <a:ext cx="5486400" cy="1280160"/>
          </a:xfrm>
          <a:prstGeom prst="rect">
            <a:avLst>
              <a:gd name="adj" fmla="val 5714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480560"/>
            <a:ext cx="411480" cy="411480"/>
          </a:xfrm>
          <a:prstGeom prst="rect">
            <a:avLst>
              <a:gd name="adj" fmla="val 11111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85432" y="4425696"/>
            <a:ext cx="466344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per-cluster health scores (0–100) and display governance leaderboards to encourage operational excellence.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Three-service architecture — Browser · REST API · Go Streaming Gateway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5727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1440" y="29443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1440" y="413308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Layer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25880" y="1463040"/>
            <a:ext cx="274320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6276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19751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 + Tailwind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201168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276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9751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State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0" y="1463040"/>
            <a:ext cx="219456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62763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Canvas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19751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Topology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0" y="1810512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1810512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2852928"/>
            <a:ext cx="274320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017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3649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JWT/RBAC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852928"/>
            <a:ext cx="201168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36499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80960" y="2852928"/>
            <a:ext cx="219456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Vault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336499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Kubeconfig Storage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0" y="3200400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3200400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5880" y="4069080"/>
            <a:ext cx="274320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4233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K8s Streamer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25880" y="458114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client-go Informers · WebSocket Hub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4069080"/>
            <a:ext cx="201168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2336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58114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Multi-instance sync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80960" y="4069080"/>
            <a:ext cx="2194560" cy="914400"/>
          </a:xfrm>
          <a:prstGeom prst="rect">
            <a:avLst>
              <a:gd name="adj" fmla="val 8000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42336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Cluster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80960" y="458114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· Nodes · Services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0" y="4416552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95160" y="4416552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33472" y="2395728"/>
            <a:ext cx="0" cy="438912"/>
          </a:xfrm>
          <a:prstGeom prst="line">
            <a:avLst/>
          </a:prstGeom>
          <a:noFill/>
          <a:ln w="9525">
            <a:solidFill>
              <a:srgbClr val="52525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633472" y="3767328"/>
            <a:ext cx="0" cy="283464"/>
          </a:xfrm>
          <a:prstGeom prst="line">
            <a:avLst/>
          </a:prstGeom>
          <a:noFill/>
          <a:ln w="9525">
            <a:solidFill>
              <a:srgbClr val="52525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2633472" y="2852928"/>
            <a:ext cx="0" cy="1197864"/>
          </a:xfrm>
          <a:prstGeom prst="line">
            <a:avLst/>
          </a:prstGeom>
          <a:noFill/>
          <a:ln w="9525">
            <a:solidFill>
              <a:srgbClr val="52525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57200" y="24505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(ws://8080)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57200" y="35661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(http://3000)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delivered in the EnvScale web 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89888"/>
            <a:ext cx="3566160" cy="1965960"/>
          </a:xfrm>
          <a:prstGeom prst="rect">
            <a:avLst>
              <a:gd name="adj" fmla="val 3721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89888"/>
            <a:ext cx="35661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91056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Cluster Topology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984248"/>
            <a:ext cx="32369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canvas — pods, nodes,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workloads in live graph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89888"/>
            <a:ext cx="3566160" cy="1965960"/>
          </a:xfrm>
          <a:prstGeom prst="rect">
            <a:avLst>
              <a:gd name="adj" fmla="val 3721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389888"/>
            <a:ext cx="35661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591056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Inspection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62272" y="1984248"/>
            <a:ext cx="32369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node → slide-out drawer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status, restarts, IP, CPU/mem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389888"/>
            <a:ext cx="3566160" cy="1965960"/>
          </a:xfrm>
          <a:prstGeom prst="rect">
            <a:avLst>
              <a:gd name="adj" fmla="val 3721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389888"/>
            <a:ext cx="35661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591056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Streaming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02752" y="1984248"/>
            <a:ext cx="32369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-f in-browser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level filters and search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3566160" cy="1965960"/>
          </a:xfrm>
          <a:prstGeom prst="rect">
            <a:avLst>
              <a:gd name="adj" fmla="val 3721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84448"/>
            <a:ext cx="35661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785616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Alert Rules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4178808"/>
            <a:ext cx="32369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CPU / Memory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Crash alert policies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3584448"/>
            <a:ext cx="3566160" cy="1965960"/>
          </a:xfrm>
          <a:prstGeom prst="rect">
            <a:avLst>
              <a:gd name="adj" fmla="val 3721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584448"/>
            <a:ext cx="35661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3785616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History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62272" y="4178808"/>
            <a:ext cx="32369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→ Resolved lifecycle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severity and status filters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3584448"/>
            <a:ext cx="3566160" cy="1965960"/>
          </a:xfrm>
          <a:prstGeom prst="rect">
            <a:avLst>
              <a:gd name="adj" fmla="val 3721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584448"/>
            <a:ext cx="35661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3785616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Scores &amp; Leaderboard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02752" y="4178808"/>
            <a:ext cx="323697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cluster health index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team governance rankings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Onboarding Wizard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ISH-01 · Step-by-step guided cluster connection — no CLI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383280" cy="2606040"/>
          </a:xfrm>
          <a:prstGeom prst="rect">
            <a:avLst>
              <a:gd name="adj" fmla="val 2807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536192"/>
            <a:ext cx="731520" cy="7315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5361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359152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Cluster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281635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432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display name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329184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186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 validation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empty submission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69080" y="1417320"/>
            <a:ext cx="3383280" cy="2606040"/>
          </a:xfrm>
          <a:prstGeom prst="rect">
            <a:avLst>
              <a:gd name="adj" fmla="val 2807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536192"/>
            <a:ext cx="731520" cy="7315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5361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33672" y="2359152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Kubeconfig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281635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7432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or browse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YAML kubeconfig file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25112" y="329184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2186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.yaml / .yml accepted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files are rejected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80960" y="1417320"/>
            <a:ext cx="3383280" cy="2606040"/>
          </a:xfrm>
          <a:prstGeom prst="rect">
            <a:avLst>
              <a:gd name="adj" fmla="val 2807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6840" y="1536192"/>
            <a:ext cx="731520" cy="7315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15361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45552" y="2359152"/>
            <a:ext cx="3054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Connect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36992" y="281635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27432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with Go streamer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/api/v1/clusters/register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36992" y="329184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32186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added to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canvas selector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86200" y="2651760"/>
            <a:ext cx="320040" cy="201168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651760"/>
            <a:ext cx="320040" cy="201168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24528"/>
            <a:ext cx="11274552" cy="548640"/>
          </a:xfrm>
          <a:prstGeom prst="rect">
            <a:avLst>
              <a:gd name="adj" fmla="val 13333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343400"/>
            <a:ext cx="1005840" cy="274320"/>
          </a:xfrm>
          <a:prstGeom prst="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343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VERIFIED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37360" y="4343400"/>
            <a:ext cx="9902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 black-box test cases PASS  ·  Wizard, validation, file upload all verified  ·  docs/qa/ISH-05-QA-Test-Matrix.md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Visual Topology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 · ArgoCD-style nested hybrid graph — nodes, workloads, pods, services, ingresses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3474720" cy="4206240"/>
          </a:xfrm>
          <a:prstGeom prst="rect">
            <a:avLst>
              <a:gd name="adj" fmla="val 2105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63040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Node Types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09728" cy="109728"/>
          </a:xfrm>
          <a:prstGeom prst="ellipse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01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K8sGroup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/ topology container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5054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K8sNode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27523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Physical/virtual worker node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21868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1089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K8sWorkload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3558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ReplicaSet · StatefulSet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7124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K8sPod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39593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workload unit, status badge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44256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3159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45628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· LoadBalancer endpoint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9194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K8sIngress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" y="5166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routing / external traffic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60520" y="1371600"/>
            <a:ext cx="7589520" cy="4206240"/>
          </a:xfrm>
          <a:prstGeom prst="rect">
            <a:avLst>
              <a:gd name="adj" fmla="val 1739"/>
            </a:avLst>
          </a:prstGeom>
          <a:solidFill>
            <a:srgbClr val="09090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1554480"/>
            <a:ext cx="7223760" cy="3749040"/>
          </a:xfrm>
          <a:prstGeom prst="rect">
            <a:avLst>
              <a:gd name="adj" fmla="val 1951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1572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(namespace)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80560" y="1874520"/>
            <a:ext cx="2286000" cy="1005840"/>
          </a:xfrm>
          <a:prstGeom prst="rect">
            <a:avLst>
              <a:gd name="adj" fmla="val 7273"/>
            </a:avLst>
          </a:prstGeom>
          <a:solidFill>
            <a:srgbClr val="141417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1901952"/>
            <a:ext cx="2249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minikube-worker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98848" y="2130552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42%  ·  Mem 68%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36008" y="23957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3591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86600" y="1874520"/>
            <a:ext cx="2103120" cy="594360"/>
          </a:xfrm>
          <a:prstGeom prst="rect">
            <a:avLst>
              <a:gd name="adj" fmla="val 12308"/>
            </a:avLst>
          </a:prstGeom>
          <a:solidFill>
            <a:srgbClr val="14141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1901952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nginx-deploy  (Deployment)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14032" y="2121408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replicas ready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086600" y="2788920"/>
            <a:ext cx="2103120" cy="365760"/>
          </a:xfrm>
          <a:prstGeom prst="rect">
            <a:avLst>
              <a:gd name="adj" fmla="val 20000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29260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286207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nginx-7d4b  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60920" y="29900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086600" y="3246120"/>
            <a:ext cx="2103120" cy="365760"/>
          </a:xfrm>
          <a:prstGeom prst="rect">
            <a:avLst>
              <a:gd name="adj" fmla="val 20000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3760" y="33832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331927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api-pod-2c3a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60920" y="34472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086600" y="3703320"/>
            <a:ext cx="2103120" cy="365760"/>
          </a:xfrm>
          <a:prstGeom prst="rect">
            <a:avLst>
              <a:gd name="adj" fmla="val 20000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38404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377647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worker-9f1e  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60920" y="390448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0104120" y="2468880"/>
            <a:ext cx="1737360" cy="457200"/>
          </a:xfrm>
          <a:prstGeom prst="rect">
            <a:avLst>
              <a:gd name="adj" fmla="val 16000"/>
            </a:avLst>
          </a:prstGeom>
          <a:solidFill>
            <a:srgbClr val="14141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31552" y="2496312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nginx-svc  :80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12280" y="2075688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35440" y="2075688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60520" y="5285232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diagram — actual topology populates from live cluster stream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 · client-go Informers → WebSocket Hub → React store → Canvas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691640" cy="1554480"/>
          </a:xfrm>
          <a:prstGeom prst="rect">
            <a:avLst>
              <a:gd name="adj" fmla="val 4706"/>
            </a:avLst>
          </a:prstGeom>
          <a:solidFill>
            <a:srgbClr val="18181B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16916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51790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" y="2048256"/>
            <a:ext cx="1581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k8s.io/api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76272" y="2057400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0864" y="1417320"/>
            <a:ext cx="1691640" cy="1554480"/>
          </a:xfrm>
          <a:prstGeom prst="rect">
            <a:avLst>
              <a:gd name="adj" fmla="val 4706"/>
            </a:avLst>
          </a:prstGeom>
          <a:solidFill>
            <a:srgbClr val="18181B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40864" y="1417320"/>
            <a:ext cx="16916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51790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Informer Factory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95728" y="2048256"/>
            <a:ext cx="1581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· Nodes · Services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· Ingresses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59936" y="2057400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4528" y="1417320"/>
            <a:ext cx="1691640" cy="1554480"/>
          </a:xfrm>
          <a:prstGeom prst="rect">
            <a:avLst>
              <a:gd name="adj" fmla="val 4706"/>
            </a:avLst>
          </a:prstGeom>
          <a:solidFill>
            <a:srgbClr val="18181B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1417320"/>
            <a:ext cx="1691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51790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DedupCache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Parser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9392" y="2048256"/>
            <a:ext cx="1581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FNV hash dedup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 / CrashLoop detection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43600" y="2057400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8192" y="1417320"/>
            <a:ext cx="1691640" cy="1554480"/>
          </a:xfrm>
          <a:prstGeom prst="rect">
            <a:avLst>
              <a:gd name="adj" fmla="val 4706"/>
            </a:avLst>
          </a:prstGeom>
          <a:solidFill>
            <a:srgbClr val="18181B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8192" y="1417320"/>
            <a:ext cx="1691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51790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Hub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(Gorilla)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63056" y="2048256"/>
            <a:ext cx="1581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ws://localhost:8080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1.24 server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27264" y="2057400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91856" y="1417320"/>
            <a:ext cx="1691640" cy="1554480"/>
          </a:xfrm>
          <a:prstGeom prst="rect">
            <a:avLst>
              <a:gd name="adj" fmla="val 4706"/>
            </a:avLst>
          </a:prstGeom>
          <a:solidFill>
            <a:srgbClr val="18181B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1856" y="1417320"/>
            <a:ext cx="1691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151790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useK8sStream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0" y="2048256"/>
            <a:ext cx="1581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backoff reconnect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Ping/pong latency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710928" y="2057400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5520" y="1417320"/>
            <a:ext cx="1691640" cy="1554480"/>
          </a:xfrm>
          <a:prstGeom prst="rect">
            <a:avLst>
              <a:gd name="adj" fmla="val 4706"/>
            </a:avLst>
          </a:prstGeom>
          <a:solidFill>
            <a:srgbClr val="18181B"/>
          </a:solidFill>
          <a:ln w="9525">
            <a:solidFill>
              <a:srgbClr val="5B21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5520" y="1417320"/>
            <a:ext cx="1691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30384" y="151790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React Flow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930384" y="2048256"/>
            <a:ext cx="1581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apply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Dagre layout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686800" y="1417320"/>
            <a:ext cx="3017520" cy="1554480"/>
          </a:xfrm>
          <a:prstGeom prst="rect">
            <a:avLst>
              <a:gd name="adj" fmla="val 4706"/>
            </a:avLst>
          </a:prstGeom>
          <a:solidFill>
            <a:srgbClr val="1414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23960" y="18288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Synchronises topology state across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streamer instances.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horizontal scaling.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469880" y="1508760"/>
            <a:ext cx="1097280" cy="256032"/>
          </a:xfrm>
          <a:prstGeom prst="rect">
            <a:avLst>
              <a:gd name="adj" fmla="val 42857"/>
            </a:avLst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6988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SCALE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" y="3200400"/>
            <a:ext cx="11274552" cy="1508760"/>
          </a:xfrm>
          <a:prstGeom prst="rect">
            <a:avLst>
              <a:gd name="adj" fmla="val 4848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273552"/>
            <a:ext cx="11000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Event Types (from apps/web/src/hooks/useK8sStream.ts)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4360" y="3602736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60273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EVENT_TOPOLOGY_SNAPSHOT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2898648" y="3602736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98648" y="360273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EVENT_POD_ADDED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202936" y="3602736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02936" y="360273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EVENT_POD_MODIFIED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7507224" y="3602736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07224" y="360273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EVENT_POD_DELETED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9811512" y="3602736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11512" y="360273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EVENT_POD_STATUS_CHANGED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94360" y="4096512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09651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EVENT_NODE_MUTATED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898648" y="4096512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98648" y="409651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EVENT_SERVICE_ADDED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202936" y="4096512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02936" y="409651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EVENT_LOG_LINE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507224" y="4096512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07224" y="409651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EVENT_ALERT_TRIGGERED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9811512" y="4096512"/>
            <a:ext cx="2176272" cy="329184"/>
          </a:xfrm>
          <a:prstGeom prst="rect">
            <a:avLst>
              <a:gd name="adj" fmla="val 33333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11512" y="409651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EVENT_HEARTBEAT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 &amp; Alerts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+ NEH · Health score algorithm, custom alert rules, real-time anomaly detection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394960" cy="4224528"/>
          </a:xfrm>
          <a:prstGeom prst="rect">
            <a:avLst>
              <a:gd name="adj" fmla="val 1732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63040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Health Score  (0 – 100)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029200" cy="384048"/>
          </a:xfrm>
          <a:prstGeom prst="rect">
            <a:avLst>
              <a:gd name="adj" fmla="val 19048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0208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65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– 100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5029200" cy="384048"/>
          </a:xfrm>
          <a:prstGeom prst="rect">
            <a:avLst>
              <a:gd name="adj" fmla="val 19048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24780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4231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89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788920"/>
            <a:ext cx="5029200" cy="384048"/>
          </a:xfrm>
          <a:prstGeom prst="rect">
            <a:avLst>
              <a:gd name="adj" fmla="val 19048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293522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79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291840"/>
            <a:ext cx="5065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 (apps/api-server/src/services/health-calculator.service.ts)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2960" y="356616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incident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3602736"/>
            <a:ext cx="1645920" cy="256032"/>
          </a:xfrm>
          <a:prstGeom prst="rect">
            <a:avLst>
              <a:gd name="adj" fmla="val 42857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36027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 points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400507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  incident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4041648"/>
            <a:ext cx="1645920" cy="256032"/>
          </a:xfrm>
          <a:prstGeom prst="rect">
            <a:avLst>
              <a:gd name="adj" fmla="val 42857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041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 points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444398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incident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0" y="4480560"/>
            <a:ext cx="1645920" cy="256032"/>
          </a:xfrm>
          <a:prstGeom prst="rect">
            <a:avLst>
              <a:gd name="adj" fmla="val 42857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4480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 points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488289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   incident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4919472"/>
            <a:ext cx="1645920" cy="256032"/>
          </a:xfrm>
          <a:prstGeom prst="rect">
            <a:avLst>
              <a:gd name="adj" fmla="val 42857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9194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points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1371600"/>
            <a:ext cx="5669280" cy="4224528"/>
          </a:xfrm>
          <a:prstGeom prst="rect">
            <a:avLst>
              <a:gd name="adj" fmla="val 1732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463040"/>
            <a:ext cx="5340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Alert Policies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45352" y="1874520"/>
            <a:ext cx="5340096" cy="475488"/>
          </a:xfrm>
          <a:prstGeom prst="rect">
            <a:avLst>
              <a:gd name="adj" fmla="val 15385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9476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Type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66760" y="194767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· Memory · Pod Crash Rate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45352" y="2441448"/>
            <a:ext cx="5340096" cy="475488"/>
          </a:xfrm>
          <a:prstGeom prst="rect">
            <a:avLst>
              <a:gd name="adj" fmla="val 15385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5146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66760" y="251460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· &lt; · &gt;= · &lt;= threshold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45352" y="3008376"/>
            <a:ext cx="5340096" cy="475488"/>
          </a:xfrm>
          <a:prstGeom prst="rect">
            <a:avLst>
              <a:gd name="adj" fmla="val 15385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0815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66760" y="30815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numeric value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45352" y="3575304"/>
            <a:ext cx="5340096" cy="475488"/>
          </a:xfrm>
          <a:prstGeom prst="rect">
            <a:avLst>
              <a:gd name="adj" fmla="val 15385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36484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66760" y="364845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breach window (seconds)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45352" y="4142232"/>
            <a:ext cx="5340096" cy="475488"/>
          </a:xfrm>
          <a:prstGeom prst="rect">
            <a:avLst>
              <a:gd name="adj" fmla="val 15385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2153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66760" y="42153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WARNING · INFO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45352" y="4709160"/>
            <a:ext cx="5340096" cy="475488"/>
          </a:xfrm>
          <a:prstGeom prst="rect">
            <a:avLst>
              <a:gd name="adj" fmla="val 15385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47823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366760" y="47823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rule without deleting it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45352" y="5349240"/>
            <a:ext cx="5340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stored in PostgreSQL  ·  Full CRUD via REST API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ISH-03 · VIN · Persistent incident log, lifecycle tracking, severity classification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468880" cy="1417320"/>
          </a:xfrm>
          <a:prstGeom prst="rect">
            <a:avLst>
              <a:gd name="adj" fmla="val 5161"/>
            </a:avLst>
          </a:prstGeom>
          <a:solidFill>
            <a:srgbClr val="18181B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81328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streamer / alert rule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3512" y="1993392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71600"/>
            <a:ext cx="2468880" cy="1417320"/>
          </a:xfrm>
          <a:prstGeom prst="rect">
            <a:avLst>
              <a:gd name="adj" fmla="val 5161"/>
            </a:avLst>
          </a:prstGeom>
          <a:solidFill>
            <a:srgbClr val="18181B"/>
          </a:solidFill>
          <a:ln w="9525">
            <a:solidFill>
              <a:srgbClr val="7F1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481328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87452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created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PostgreSQL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96712" y="1993392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371600"/>
            <a:ext cx="2468880" cy="1417320"/>
          </a:xfrm>
          <a:prstGeom prst="rect">
            <a:avLst>
              <a:gd name="adj" fmla="val 5161"/>
            </a:avLst>
          </a:prstGeom>
          <a:solidFill>
            <a:srgbClr val="18181B"/>
          </a:solidFill>
          <a:ln w="9525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1481328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53328" y="187452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seen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39912" y="1993392"/>
            <a:ext cx="320040" cy="201168"/>
          </a:xfrm>
          <a:prstGeom prst="rightArrow">
            <a:avLst/>
          </a:prstGeom>
          <a:solidFill>
            <a:srgbClr val="52525B"/>
          </a:solidFill>
          <a:ln w="12700">
            <a:solidFill>
              <a:srgbClr val="5252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371600"/>
            <a:ext cx="2468880" cy="1417320"/>
          </a:xfrm>
          <a:prstGeom prst="rect">
            <a:avLst>
              <a:gd name="adj" fmla="val 5161"/>
            </a:avLst>
          </a:prstGeom>
          <a:solidFill>
            <a:srgbClr val="18181B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96528" y="1481328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96528" y="1874520"/>
            <a:ext cx="2249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fixed,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logged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5029200" cy="475488"/>
          </a:xfrm>
          <a:prstGeom prst="rect">
            <a:avLst>
              <a:gd name="adj" fmla="val 15385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419856"/>
            <a:ext cx="1371600" cy="256032"/>
          </a:xfrm>
          <a:prstGeom prst="rect">
            <a:avLst>
              <a:gd name="adj" fmla="val 42857"/>
            </a:avLst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4198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48840" y="340156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 · CrashLoopBackOff · ImagePullBackOff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877056"/>
            <a:ext cx="5029200" cy="475488"/>
          </a:xfrm>
          <a:prstGeom prst="rect">
            <a:avLst>
              <a:gd name="adj" fmla="val 15385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86784"/>
            <a:ext cx="1371600" cy="256032"/>
          </a:xfrm>
          <a:prstGeom prst="rect">
            <a:avLst>
              <a:gd name="adj" fmla="val 42857"/>
            </a:avLst>
          </a:prstGeom>
          <a:solidFill>
            <a:srgbClr val="451A03"/>
          </a:solidFill>
          <a:ln w="12700">
            <a:solidFill>
              <a:srgbClr val="451A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986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48840" y="396849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restart count · Resource pressure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443984"/>
            <a:ext cx="5029200" cy="475488"/>
          </a:xfrm>
          <a:prstGeom prst="rect">
            <a:avLst>
              <a:gd name="adj" fmla="val 15385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553712"/>
            <a:ext cx="1371600" cy="256032"/>
          </a:xfrm>
          <a:prstGeom prst="rect">
            <a:avLst>
              <a:gd name="adj" fmla="val 42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5537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48840" y="453542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status changes · Scheduled events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971800"/>
            <a:ext cx="6035040" cy="2624328"/>
          </a:xfrm>
          <a:prstGeom prst="rect">
            <a:avLst>
              <a:gd name="adj" fmla="val 2787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9592" y="3063240"/>
            <a:ext cx="5687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 — Filter Controls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79592" y="34564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Filter: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119872" y="34564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CRITICAL · WARNING · INFO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79592" y="39502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119872" y="39502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TRIGGERED · RESOLVED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79592" y="44439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Filter: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19872" y="44439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· (dynamic cluster list)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79592" y="49377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19872" y="49377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v1.Events + pod telemetry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6217920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apps/web/src/components/views/IncidentsView.tsx  ·  apps/api-server/src/controllers/incident.controller.ts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Gamification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+ NEH · Engineering teams rewarded for infrastructure stability and zero-downtime streaks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212080" cy="2011680"/>
          </a:xfrm>
          <a:prstGeom prst="rect">
            <a:avLst>
              <a:gd name="adj" fmla="val 3636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Gamify Operations?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288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passive monitoring into active engineering ownership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402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scores create shared team responsibility for cluster stability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517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tracking discourages reactive fire-fighting habits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632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leaderboards encourage proactive incident resolution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1371600"/>
            <a:ext cx="5760720" cy="4206240"/>
          </a:xfrm>
          <a:prstGeom prst="rect">
            <a:avLst>
              <a:gd name="adj" fmla="val 1739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463040"/>
            <a:ext cx="5431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Leaderboard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828800"/>
            <a:ext cx="5458968" cy="329184"/>
          </a:xfrm>
          <a:prstGeom prst="rect">
            <a:avLst>
              <a:gd name="adj" fmla="val 22222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8653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78040" y="18653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275320" y="18653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72600" y="18653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469880" y="18653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80760" y="2231136"/>
            <a:ext cx="5458968" cy="438912"/>
          </a:xfrm>
          <a:prstGeom prst="rect">
            <a:avLst>
              <a:gd name="adj" fmla="val 16667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3225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23225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prod-us-east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75320" y="23225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72600" y="23225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469880" y="2322576"/>
            <a:ext cx="914400" cy="256032"/>
          </a:xfrm>
          <a:prstGeom prst="rect">
            <a:avLst>
              <a:gd name="adj" fmla="val 42857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69880" y="23225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080760" y="2743200"/>
            <a:ext cx="5458968" cy="438912"/>
          </a:xfrm>
          <a:prstGeom prst="rect">
            <a:avLst>
              <a:gd name="adj" fmla="val 16667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8346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8040" y="28346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dev-k3s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75320" y="28346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72600" y="28346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469880" y="2834640"/>
            <a:ext cx="914400" cy="256032"/>
          </a:xfrm>
          <a:prstGeom prst="rect">
            <a:avLst>
              <a:gd name="adj" fmla="val 42857"/>
            </a:avLst>
          </a:prstGeom>
          <a:solidFill>
            <a:srgbClr val="451A03"/>
          </a:solidFill>
          <a:ln w="12700">
            <a:solidFill>
              <a:srgbClr val="451A0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69880" y="2834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80760" y="3255264"/>
            <a:ext cx="5458968" cy="438912"/>
          </a:xfrm>
          <a:prstGeom prst="rect">
            <a:avLst>
              <a:gd name="adj" fmla="val 16667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33467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78040" y="33467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staging-minik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75320" y="33467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372600" y="33467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469880" y="3346704"/>
            <a:ext cx="914400" cy="256032"/>
          </a:xfrm>
          <a:prstGeom prst="rect">
            <a:avLst>
              <a:gd name="adj" fmla="val 42857"/>
            </a:avLst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6988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80760" y="4160520"/>
            <a:ext cx="5458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Cluster names and scores shown are illustrative mockup values.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data populated dynamically from connected cluster state.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57200" y="3547872"/>
            <a:ext cx="5212080" cy="1115568"/>
          </a:xfrm>
          <a:prstGeom prst="rect">
            <a:avLst>
              <a:gd name="adj" fmla="val 6557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36210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" y="3895344"/>
            <a:ext cx="2194560" cy="237744"/>
          </a:xfrm>
          <a:prstGeom prst="rect">
            <a:avLst>
              <a:gd name="adj" fmla="val 46154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389534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Leaderboard UI + Backend Queries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21792" y="4187952"/>
            <a:ext cx="2194560" cy="237744"/>
          </a:xfrm>
          <a:prstGeom prst="rect">
            <a:avLst>
              <a:gd name="adj" fmla="val 46154"/>
            </a:avLst>
          </a:prstGeom>
          <a:solidFill>
            <a:srgbClr val="451A03"/>
          </a:solidFill>
          <a:ln w="12700">
            <a:solidFill>
              <a:srgbClr val="451A0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" y="41879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Frontend uses in-memory store data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 actual repository files — all technologies listed are confirmed present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3657600" cy="4297680"/>
          </a:xfrm>
          <a:prstGeom prst="rect">
            <a:avLst>
              <a:gd name="adj" fmla="val 2000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36576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17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187452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922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19933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UI framework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" y="232257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24028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2441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tool, dev server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" y="277063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68833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" y="321868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3639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3337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1792" y="366674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58444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3785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@xyflow/react — topology canvas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" y="411480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03250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" y="42336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" y="456285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4805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class-variance-authority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" y="46817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variants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" y="501091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92861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Icons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7240" y="51297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@mdi/react icon system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51960" y="1325880"/>
            <a:ext cx="3657600" cy="4297680"/>
          </a:xfrm>
          <a:prstGeom prst="rect">
            <a:avLst>
              <a:gd name="adj" fmla="val 2000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1325880"/>
            <a:ext cx="36576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1417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16552" y="18745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17922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19933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v18+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16552" y="232257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24028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0" y="2441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framework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16552" y="27706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68833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0" y="28895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16552" y="321868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13639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0" y="3337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DB queries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416552" y="366674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0" y="358444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0" y="3785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password hashing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416552" y="411480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403250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0" y="42336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416552" y="456285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44805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0" y="46817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req/min IP limiter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416552" y="501091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492861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0" y="51297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Kubeconfig encryption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046720" y="1325880"/>
            <a:ext cx="3657600" cy="4297680"/>
          </a:xfrm>
          <a:prstGeom prst="rect">
            <a:avLst>
              <a:gd name="adj" fmla="val 2000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46720" y="1325880"/>
            <a:ext cx="36576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83880" y="14173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Engine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211312" y="18745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66760" y="17922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1.24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366760" y="19933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gateway language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211312" y="232257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66760" y="224028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k8s.io/client-go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366760" y="2441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Informers v0.30.2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211312" y="27706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66760" y="268833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Gorilla WebSocket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366760" y="28895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ws://localhost:8080 hub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211312" y="321868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66760" y="313639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(go-redis v9)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366760" y="33375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adapter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211312" y="366674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66760" y="358444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k8s.io/metrics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8366760" y="3785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API client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211312" y="41148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66760" y="403250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+ Turborepo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366760" y="42336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build tooling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211312" y="456285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66760" y="44805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8366760" y="46817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orchestration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211312" y="50109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66760" y="492861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366760" y="51297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(.github/workflows)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module ownership — each member led a distinct engineering domain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5532120" cy="2240280"/>
          </a:xfrm>
          <a:prstGeom prst="rect">
            <a:avLst>
              <a:gd name="adj" fmla="val 3265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55321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538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1481328"/>
            <a:ext cx="1005840" cy="237744"/>
          </a:xfrm>
          <a:prstGeom prst="rect">
            <a:avLst>
              <a:gd name="adj" fmla="val 4615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4813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PRN-*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74650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13055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0391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Kubernetes Streamer (k8s-streamer)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43230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3408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client-go SharedInformerFactory — Pods, Nodes, Services, Deployments, Ingresses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273405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6426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Hub (Gorilla) — real-time event broadcast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303580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anomaly parser — OOMKilled, CrashLoopBackOff detection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 adapter for multi-instance state sync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4672" y="3547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more tasks completed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5532120" cy="2240280"/>
          </a:xfrm>
          <a:prstGeom prst="rect">
            <a:avLst>
              <a:gd name="adj" fmla="val 3265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25880"/>
            <a:ext cx="55321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4538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0" y="1481328"/>
            <a:ext cx="1005840" cy="237744"/>
          </a:xfrm>
          <a:prstGeom prst="rect">
            <a:avLst>
              <a:gd name="adj" fmla="val 46154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14813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VIN-*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174650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&amp; Database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213055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0391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REST API server (apps/api-server)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243230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3408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 schema — users, clusters, incidents, alerts, health snapshots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00800" y="273405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26426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bcrypt + HTTP-only refresh cookie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0" y="303580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middleware — ADMIN / MEMBER / VIEWER roles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0" y="333756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kubeconfig encryption vault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565392" y="3547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more tasks completed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3749040"/>
            <a:ext cx="5532120" cy="2240280"/>
          </a:xfrm>
          <a:prstGeom prst="rect">
            <a:avLst>
              <a:gd name="adj" fmla="val 3265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749040"/>
            <a:ext cx="55321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877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26080" y="3904488"/>
            <a:ext cx="1005840" cy="237744"/>
          </a:xfrm>
          <a:prstGeom prst="rect">
            <a:avLst>
              <a:gd name="adj" fmla="val 46154"/>
            </a:avLst>
          </a:prstGeom>
          <a:solidFill>
            <a:srgbClr val="451A03"/>
          </a:solidFill>
          <a:ln w="12700">
            <a:solidFill>
              <a:srgbClr val="451A0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39044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NEH-*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" y="416966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Visualization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" y="45537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topology canvas (TopologyCanvas.tsx)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0080" y="485546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" y="4764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K8s node types: Pod, WorkerNode, Service, Workload, Group, Ingress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0080" y="51572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" y="5065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Dagre auto-layout engine (LR direction)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0080" y="545896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" y="5367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topology store — delta apply, undo/redo, history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0080" y="57607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" y="5669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useK8sStream WebSocket hook with exponential backoff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04672" y="59710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more tasks completed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17920" y="3749040"/>
            <a:ext cx="5532120" cy="2240280"/>
          </a:xfrm>
          <a:prstGeom prst="rect">
            <a:avLst>
              <a:gd name="adj" fmla="val 3265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17920" y="3749040"/>
            <a:ext cx="55321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3877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Ishika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686800" y="3904488"/>
            <a:ext cx="1005840" cy="237744"/>
          </a:xfrm>
          <a:prstGeom prst="rect">
            <a:avLst>
              <a:gd name="adj" fmla="val 46154"/>
            </a:avLst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0" y="39044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ISH-*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55080" y="416966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QA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0" y="4553712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65392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Cluster onboarding wizard (3-step, Dropzone, validation)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00800" y="4855464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65392" y="4764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library — Button, Badge, Card, Modal, Toast, EmptyState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00800" y="515721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65392" y="50657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Boundary with retry (React class component)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00800" y="5458968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65392" y="5367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 components used across topology, incidents, alerts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400800" y="5760720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65392" y="5669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QA test matrix — 10 test cases, all PASS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565392" y="59710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more tasks completed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B"/>
          </a:solidFill>
          <a:ln w="12700">
            <a:solidFill>
              <a:srgbClr val="0909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5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this semester — and where EnvScale can go next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5303520" cy="3749040"/>
          </a:xfrm>
          <a:prstGeom prst="rect">
            <a:avLst>
              <a:gd name="adj" fmla="val 1951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61872"/>
            <a:ext cx="53035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71600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This Semester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186537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755648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WebSocket streaming gateway with client-go Informers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224028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130552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 API with JWT/RBAC and PostgreSQL schema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" y="261518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505456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topology canvas with 6 custom K8s node types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" y="2990088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880360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drawer, live log streaming, kubectl web terminal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" y="3364992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255264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alert rule builder and persistent incident log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" y="373989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630168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health score algorithm (0–100) and leaderboard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" y="411480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005072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Cluster onboarding wizard and reusable UI library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" y="448970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379976"/>
            <a:ext cx="4791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SRS documentation, QA matrix, and design system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1261872"/>
            <a:ext cx="5742432" cy="3749040"/>
          </a:xfrm>
          <a:prstGeom prst="rect">
            <a:avLst>
              <a:gd name="adj" fmla="val 1951"/>
            </a:avLst>
          </a:prstGeom>
          <a:solidFill>
            <a:srgbClr val="141417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261872"/>
            <a:ext cx="57424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1371600"/>
            <a:ext cx="5431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53912" y="1865376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1755648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session auth flow across all web views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53912" y="224028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504" y="2130552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driven by live API queries (not store cache)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53912" y="2615184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2505456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EKS cluster support and Helm chart deployment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53912" y="2990088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2880360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workspace with live RBAC management UI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53912" y="3364992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3255264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 tests — P95 latency benchmarking at 1000 req/s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53912" y="3739896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3630168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visual QA and mobile responsive audit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53912" y="4114800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4005072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 video scripting and screen recording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53912" y="4489704"/>
            <a:ext cx="82296" cy="822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8504" y="4379976"/>
            <a:ext cx="5248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with Redis-backed multi-streamer mesh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5212080"/>
            <a:ext cx="11274552" cy="1280160"/>
          </a:xfrm>
          <a:prstGeom prst="rect">
            <a:avLst>
              <a:gd name="adj" fmla="val 5714"/>
            </a:avLst>
          </a:prstGeom>
          <a:solidFill>
            <a:srgbClr val="1E3A5F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303520"/>
            <a:ext cx="112745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457200" y="5815584"/>
            <a:ext cx="11274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·  EnvScale  ·  Semester 5 Engineering Project  ·  2026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41417"/>
          </a:solidFill>
          <a:ln w="6350">
            <a:solidFill>
              <a:srgbClr val="272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6565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ENVSCALE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00400" y="6565392"/>
            <a:ext cx="5788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Engineering Project Defense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1091672" y="65653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EnvScale — Project Defense</dc:title>
  <dc:subject>Semester 5 Engineering Project</dc:subject>
  <dc:creator>EnvScale Team</dc:creator>
  <cp:lastModifiedBy>EnvScale Team</cp:lastModifiedBy>
  <cp:revision>1</cp:revision>
  <dcterms:created xsi:type="dcterms:W3CDTF">2026-08-25T17:59:47Z</dcterms:created>
  <dcterms:modified xsi:type="dcterms:W3CDTF">2026-08-25T17:59:47Z</dcterms:modified>
</cp:coreProperties>
</file>